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Easton</c:v>
                </c:pt>
              </c:strCache>
            </c:strRef>
          </c:tx>
          <c:spPr>
            <a:solidFill>
              <a:srgbClr val="1A9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Beginner</c:v>
                  </c:pt>
                  <c:pt idx="1">
                    <c:v>Developing</c:v>
                  </c:pt>
                  <c:pt idx="2">
                    <c:v>Intermediate</c:v>
                  </c:pt>
                  <c:pt idx="3">
                    <c:v>Advanced</c:v>
                  </c:pt>
                  <c:pt idx="4">
                    <c:v>Elite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78</c:v>
                </c:pt>
                <c:pt idx="4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Express</c:v>
                </c:pt>
              </c:strCache>
            </c:strRef>
          </c:tx>
          <c:spPr>
            <a:solidFill>
              <a:srgbClr val="1A6B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Beginner</c:v>
                  </c:pt>
                  <c:pt idx="1">
                    <c:v>Developing</c:v>
                  </c:pt>
                  <c:pt idx="2">
                    <c:v>Intermediate</c:v>
                  </c:pt>
                  <c:pt idx="3">
                    <c:v>Advanced</c:v>
                  </c:pt>
                  <c:pt idx="4">
                    <c:v>Elite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Gold Tip</c:v>
                </c:pt>
              </c:strCache>
            </c:strRef>
          </c:tx>
          <c:spPr>
            <a:solidFill>
              <a:srgbClr val="E85D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Beginner</c:v>
                  </c:pt>
                  <c:pt idx="1">
                    <c:v>Developing</c:v>
                  </c:pt>
                  <c:pt idx="2">
                    <c:v>Intermediate</c:v>
                  </c:pt>
                  <c:pt idx="3">
                    <c:v>Advanced</c:v>
                  </c:pt>
                  <c:pt idx="4">
                    <c:v>Elite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14</c:v>
                </c:pt>
                <c:pt idx="2">
                  <c:v>10</c:v>
                </c:pt>
                <c:pt idx="3">
                  <c:v>7</c:v>
                </c:pt>
                <c:pt idx="4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Beginner</c:v>
                  </c:pt>
                  <c:pt idx="1">
                    <c:v>Developing</c:v>
                  </c:pt>
                  <c:pt idx="2">
                    <c:v>Intermediate</c:v>
                  </c:pt>
                  <c:pt idx="3">
                    <c:v>Advanced</c:v>
                  </c:pt>
                  <c:pt idx="4">
                    <c:v>Elite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20</c:v>
                </c:pt>
                <c:pt idx="1">
                  <c:v>16</c:v>
                </c:pt>
                <c:pt idx="2">
                  <c:v>10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899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D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LOGGINHOOD INSIGHTS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archery manufacturers have never had.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tied to equipment. Anonymised. Aggregate. Actionable.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logginhood.com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you sell.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tells you volume, price point, channel.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how it performs.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manufacturer has real-world performance data tied to their equipment — or their competitors'.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R&amp;D team is guessing.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relies on pro team feedback and lab tests. Neither represents your actual customer base.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CAPTURE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scored round is linked to a full equipment profile.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Riser &amp; limbs (brand, model)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(brand, spine, length, points)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 (brand, model, pin type)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Stabilisers (long rod, short rods, V-bar)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/ plunger (brand, spring, position)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Clicker, tab, release aid,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round (arrow-by-arrow)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count &amp; hit count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type &amp; distance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(standard deviation)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over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category, gender, bow type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 PRODUCTS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371600"/>
            <a:ext cx="274320" cy="274320"/>
          </a:xfrm>
          <a:prstGeom prst="ellipse">
            <a:avLst/>
          </a:prstGeom>
          <a:solidFill>
            <a:srgbClr val="1A9B6B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Performance Index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for every product based on real archer performance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121408"/>
            <a:ext cx="274320" cy="274320"/>
          </a:xfrm>
          <a:prstGeom prst="ellipse">
            <a:avLst/>
          </a:prstGeom>
          <a:solidFill>
            <a:srgbClr val="1A6BB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Reports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archers change equipment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88336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2871216"/>
            <a:ext cx="274320" cy="27432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7340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008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top archers actually shoot at each 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362102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483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Map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758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upgrades mapped to skill progression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87952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370832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233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Share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breakdown of what's being used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PERFORMANCE INDEX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Sights — Indoor Portsmouth (Recurve, Senior)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Shibuya Ultima RC 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9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Axcel Achieve CX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9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Axcel AX2000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6B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Cartel Focus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 Axiom 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normalises scores across skill levels and sample sizes. Higher = better average performance relative to peers.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REPORTS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2011680"/>
          </a:xfrm>
          <a:prstGeom prst="roundRect">
            <a:avLst>
              <a:gd name="adj" fmla="val 3636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X10  →  Easton RX7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increase over 8 weeks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avg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avg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happens when archers switch any piece of equipment — arrows, sights, limbs, stabilisers. See the performance impact with statistical significance.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used Logginhood switching data to validate the RX7 launch. The +2.3% lift across 342 real-world switches was stronger than our internal testing predicted."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Example testimonial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500+ Portsmouth archer actually shoot?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991149" cy="457200"/>
          </a:xfrm>
          <a:prstGeom prst="roundRect">
            <a:avLst>
              <a:gd name="adj" fmla="val 10000"/>
            </a:avLst>
          </a:prstGeom>
          <a:solidFill>
            <a:srgbClr val="1A9B6B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Easton X10 · 15% ACE · 7% Other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4762195" cy="457200"/>
          </a:xfrm>
          <a:prstGeom prst="roundRect">
            <a:avLst>
              <a:gd name="adj" fmla="val 10000"/>
            </a:avLst>
          </a:prstGeom>
          <a:solidFill>
            <a:srgbClr val="1A9B6B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(62%) · 550 (28%) · 500 (10%)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560320"/>
            <a:ext cx="4147718" cy="457200"/>
          </a:xfrm>
          <a:prstGeom prst="roundRect">
            <a:avLst>
              <a:gd name="adj" fmla="val 10000"/>
            </a:avLst>
          </a:prstGeom>
          <a:solidFill>
            <a:srgbClr val="1A9B6B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Shibuya (54%) · Axcel (31%) · Other (15%)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108960"/>
            <a:ext cx="4454957" cy="457200"/>
          </a:xfrm>
          <a:prstGeom prst="roundRect">
            <a:avLst>
              <a:gd name="adj" fmla="val 10000"/>
            </a:avLst>
          </a:prstGeom>
          <a:solidFill>
            <a:srgbClr val="1A9B6B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weight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36-40 lbs (58%) · 40-44 lbs (32%)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657600"/>
            <a:ext cx="5453482" cy="457200"/>
          </a:xfrm>
          <a:prstGeom prst="roundRect">
            <a:avLst>
              <a:gd name="adj" fmla="val 10000"/>
            </a:avLst>
          </a:prstGeom>
          <a:solidFill>
            <a:srgbClr val="1A9B6B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28"+ (71%) · 26-28" (22%)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206240"/>
            <a:ext cx="6989674" cy="457200"/>
          </a:xfrm>
          <a:prstGeom prst="roundRect">
            <a:avLst>
              <a:gd name="adj" fmla="val 10000"/>
            </a:avLst>
          </a:prstGeom>
          <a:solidFill>
            <a:srgbClr val="1A9B6B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use a blade clicker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any combination: bow type, age, gender, skill level, round type, indoor/outdoor.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upgrades mapped to archer progression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bow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aluminium arrows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sight or basic sight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9748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own bow (entry riser)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arrows (700 spine)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sight + finger tab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riser + limbs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 / ACE (600 spine)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Shibuya/Axcel sight + clicker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9516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Top-end riser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 (550 spine)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stabiliser setup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when your customer is ready to upgrade — and what they'll upgrade 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SHARE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brands by skill level — updated weekly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371600"/>
          <a:ext cx="7680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by: country, bow type, age group, round type, indoor/outdoor, date range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&amp; PRIVACY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481328"/>
            <a:ext cx="320040" cy="320040"/>
          </a:xfrm>
          <a:prstGeom prst="ellipse">
            <a:avLst/>
          </a:prstGeom>
          <a:solidFill>
            <a:srgbClr val="1A9B6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anonymised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no emails, no club identifiers. Aggregate data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2350008"/>
            <a:ext cx="320040" cy="320040"/>
          </a:xfrm>
          <a:prstGeom prst="ellipse">
            <a:avLst/>
          </a:prstGeom>
          <a:solidFill>
            <a:srgbClr val="1A9B6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532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data protection regulations built in from day one. Users consent to anonymised data use.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218688"/>
            <a:ext cx="320040" cy="320040"/>
          </a:xfrm>
          <a:prstGeom prst="ellipse">
            <a:avLst/>
          </a:prstGeom>
          <a:solidFill>
            <a:srgbClr val="1A9B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sample size: 50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point is surfaced unless backed by 50+ archers. Prevents de-anonymisation.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087368"/>
            <a:ext cx="320040" cy="320040"/>
          </a:xfrm>
          <a:prstGeom prst="ellipse">
            <a:avLst/>
          </a:prstGeom>
          <a:solidFill>
            <a:srgbClr val="1A9B6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tracking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270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see trends across populations, never individual archers.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archers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weekly on the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rounds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Arrow-by-arrow data with equipment profiles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growth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— word of mouth in clubs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archer adds equipment data. Every scored round enriches the dataset. The moat deepens daily.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Performance Index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bow type &amp; round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data updates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A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24688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Map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DNA segmentation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reports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4688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aggregate API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builder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competitor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BRAND'S DATA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20-minute demo and we'll show you your equipment's real-world performance data — free, no commitment.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6080" y="31089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A9B6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0" y="3108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insights@logginhood.com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logginhood.com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Logginhood Insights</dc:title>
  <dc:subject>PptxGenJS Presentation</dc:subject>
  <dc:creator>Logginhood</dc:creator>
  <cp:lastModifiedBy>Logginhood</cp:lastModifiedBy>
  <cp:revision>1</cp:revision>
  <dcterms:created xsi:type="dcterms:W3CDTF">2026-06-23T23:17:17Z</dcterms:created>
  <dcterms:modified xsi:type="dcterms:W3CDTF">2026-06-23T23:17:17Z</dcterms:modified>
</cp:coreProperties>
</file>